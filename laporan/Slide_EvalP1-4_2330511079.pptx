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F2A5C"/>
                </a:solidFill>
                <a:latin typeface="Arial"/>
              </a:defRPr>
            </a:pPr>
            <a:r>
              <a:rPr sz="1600" b="0" i="0" u="none" strike="noStrike">
                <a:solidFill>
                  <a:srgbClr val="0F2A5C"/>
                </a:solidFill>
                <a:latin typeface="Arial"/>
              </a:rPr>
              <a:t>Rerata KB per kanal (kelas berat)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Normal</c:v>
                  </c:pt>
                  <c:pt idx="1">
                    <c:v>Gelap</c:v>
                  </c:pt>
                  <c:pt idx="2">
                    <c:v>Terang</c:v>
                  </c:pt>
                  <c:pt idx="3">
                    <c:v>Kontras ↓</c:v>
                  </c:pt>
                  <c:pt idx="4">
                    <c:v>Bayangan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10.87</c:v>
                </c:pt>
                <c:pt idx="1">
                  <c:v>8.62</c:v>
                </c:pt>
                <c:pt idx="2">
                  <c:v>6.16</c:v>
                </c:pt>
                <c:pt idx="3">
                  <c:v>3.98</c:v>
                </c:pt>
                <c:pt idx="4">
                  <c:v>5.16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Normal</c:v>
                  </c:pt>
                  <c:pt idx="1">
                    <c:v>Gelap</c:v>
                  </c:pt>
                  <c:pt idx="2">
                    <c:v>Terang</c:v>
                  </c:pt>
                  <c:pt idx="3">
                    <c:v>Kontras ↓</c:v>
                  </c:pt>
                  <c:pt idx="4">
                    <c:v>Bayangan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8.89</c:v>
                </c:pt>
                <c:pt idx="1">
                  <c:v>5.77</c:v>
                </c:pt>
                <c:pt idx="2">
                  <c:v>4.46</c:v>
                </c:pt>
                <c:pt idx="3">
                  <c:v>2.11</c:v>
                </c:pt>
                <c:pt idx="4">
                  <c:v>4.25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Normal</c:v>
                  </c:pt>
                  <c:pt idx="1">
                    <c:v>Gelap</c:v>
                  </c:pt>
                  <c:pt idx="2">
                    <c:v>Terang</c:v>
                  </c:pt>
                  <c:pt idx="3">
                    <c:v>Kontras ↓</c:v>
                  </c:pt>
                  <c:pt idx="4">
                    <c:v>Bayangan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2.36</c:v>
                </c:pt>
                <c:pt idx="1">
                  <c:v>2.03</c:v>
                </c:pt>
                <c:pt idx="2">
                  <c:v>1.8</c:v>
                </c:pt>
                <c:pt idx="3">
                  <c:v>1.36</c:v>
                </c:pt>
                <c:pt idx="4">
                  <c:v>0.99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F2A5C"/>
                </a:solidFill>
                <a:latin typeface="Arial"/>
              </a:defRPr>
            </a:pPr>
            <a:r>
              <a:rPr sz="1600" b="0" i="0" u="none" strike="noStrike">
                <a:solidFill>
                  <a:srgbClr val="0F2A5C"/>
                </a:solidFill>
                <a:latin typeface="Arial"/>
              </a:rPr>
              <a:t>KB tiap metode (teh_045)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KB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Asli</c:v>
                  </c:pt>
                  <c:pt idx="1">
                    <c:v>Gam 1,8</c:v>
                  </c:pt>
                  <c:pt idx="2">
                    <c:v>Ekual.</c:v>
                  </c:pt>
                  <c:pt idx="3">
                    <c:v>CLAHE</c:v>
                  </c:pt>
                  <c:pt idx="4">
                    <c:v>Gam 0,5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1.76</c:v>
                </c:pt>
                <c:pt idx="1">
                  <c:v>1.54</c:v>
                </c:pt>
                <c:pt idx="2">
                  <c:v>1.3</c:v>
                </c:pt>
                <c:pt idx="3">
                  <c:v>1.99</c:v>
                </c:pt>
                <c:pt idx="4">
                  <c:v>2.34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F2A5C"/>
                </a:solidFill>
                <a:latin typeface="Arial"/>
              </a:defRPr>
            </a:pPr>
            <a:r>
              <a:rPr sz="1600" b="0" i="0" u="none" strike="noStrike">
                <a:solidFill>
                  <a:srgbClr val="0F2A5C"/>
                </a:solidFill>
                <a:latin typeface="Arial"/>
              </a:rPr>
              <a:t>PSNR (dB) tiap penapis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Gauss 20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tanpa</c:v>
                  </c:pt>
                  <c:pt idx="1">
                    <c:v>rerata3</c:v>
                  </c:pt>
                  <c:pt idx="2">
                    <c:v>rerata5</c:v>
                  </c:pt>
                  <c:pt idx="3">
                    <c:v>gauss5</c:v>
                  </c:pt>
                  <c:pt idx="4">
                    <c:v>med3</c:v>
                  </c:pt>
                  <c:pt idx="5">
                    <c:v>med5</c:v>
                  </c:pt>
                  <c:pt idx="6">
                    <c:v>med9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22.14</c:v>
                </c:pt>
                <c:pt idx="1">
                  <c:v>30.09</c:v>
                </c:pt>
                <c:pt idx="2">
                  <c:v>31.89</c:v>
                </c:pt>
                <c:pt idx="3">
                  <c:v>31.31</c:v>
                </c:pt>
                <c:pt idx="4">
                  <c:v>28.74</c:v>
                </c:pt>
                <c:pt idx="5">
                  <c:v>31.24</c:v>
                </c:pt>
                <c:pt idx="6">
                  <c:v>32.13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S&amp;P 4%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tanpa</c:v>
                  </c:pt>
                  <c:pt idx="1">
                    <c:v>rerata3</c:v>
                  </c:pt>
                  <c:pt idx="2">
                    <c:v>rerata5</c:v>
                  </c:pt>
                  <c:pt idx="3">
                    <c:v>gauss5</c:v>
                  </c:pt>
                  <c:pt idx="4">
                    <c:v>med3</c:v>
                  </c:pt>
                  <c:pt idx="5">
                    <c:v>med5</c:v>
                  </c:pt>
                  <c:pt idx="6">
                    <c:v>med9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19</c:v>
                </c:pt>
                <c:pt idx="1">
                  <c:v>27.42</c:v>
                </c:pt>
                <c:pt idx="2">
                  <c:v>29.92</c:v>
                </c:pt>
                <c:pt idx="3">
                  <c:v>28.73</c:v>
                </c:pt>
                <c:pt idx="4">
                  <c:v>35.21</c:v>
                </c:pt>
                <c:pt idx="5">
                  <c:v>34.67</c:v>
                </c:pt>
                <c:pt idx="6">
                  <c:v>33.82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F2A5C"/>
                </a:solidFill>
                <a:latin typeface="Arial"/>
              </a:defRPr>
            </a:pPr>
            <a:r>
              <a:rPr sz="1600" b="0" i="0" u="none" strike="noStrike">
                <a:solidFill>
                  <a:srgbClr val="0F2A5C"/>
                </a:solidFill>
                <a:latin typeface="Arial"/>
              </a:rPr>
              <a:t>KB kanal R sebelum dan sesudah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Sebelum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Normal</c:v>
                  </c:pt>
                  <c:pt idx="1">
                    <c:v>Gelap</c:v>
                  </c:pt>
                  <c:pt idx="2">
                    <c:v>Terang</c:v>
                  </c:pt>
                  <c:pt idx="3">
                    <c:v>Kontras ↓</c:v>
                  </c:pt>
                  <c:pt idx="4">
                    <c:v>Bayangan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9.43</c:v>
                </c:pt>
                <c:pt idx="1">
                  <c:v>8.68</c:v>
                </c:pt>
                <c:pt idx="2">
                  <c:v>6.43</c:v>
                </c:pt>
                <c:pt idx="3">
                  <c:v>3.5</c:v>
                </c:pt>
                <c:pt idx="4">
                  <c:v>5.22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Sesudah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Normal</c:v>
                  </c:pt>
                  <c:pt idx="1">
                    <c:v>Gelap</c:v>
                  </c:pt>
                  <c:pt idx="2">
                    <c:v>Terang</c:v>
                  </c:pt>
                  <c:pt idx="3">
                    <c:v>Kontras ↓</c:v>
                  </c:pt>
                  <c:pt idx="4">
                    <c:v>Bayangan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11.12</c:v>
                </c:pt>
                <c:pt idx="1">
                  <c:v>14.86</c:v>
                </c:pt>
                <c:pt idx="2">
                  <c:v>5.8</c:v>
                </c:pt>
                <c:pt idx="3">
                  <c:v>4.47</c:v>
                </c:pt>
                <c:pt idx="4">
                  <c:v>8.32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754880" cy="4754880"/>
          </a:xfrm>
          <a:prstGeom prst="ellipse">
            <a:avLst/>
          </a:prstGeom>
          <a:solidFill>
            <a:srgbClr val="1D4ED8">
              <a:alpha val="45000"/>
            </a:srgbClr>
          </a:solidFill>
          <a:ln w="12700">
            <a:solidFill>
              <a:srgbClr val="1D4ED8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743200"/>
            <a:ext cx="3474720" cy="3474720"/>
          </a:xfrm>
          <a:prstGeom prst="ellipse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30352"/>
            <a:ext cx="859536" cy="8595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502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 Muhammadiyah Sukabumi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BF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Teknik Informatika · Computer Vision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SIMUTEH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5603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Informasi Mutu Daun Teh: akuisisi dan praproses citra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10972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703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Syifa Humaira · 2330511079 · Kelas 7B · SEED 1079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06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github.com/syifahumaira17/simuteh-2330511079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MASALAH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256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dan pengguna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4370832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708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sistem adalah pertimbangan; keputusan akhir tetap di petugas.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82296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91440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3258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 petugas sortir kelompok tani teh di Sukabumi yang menilai daun secara manual (lambat, tidak seragam), SIMUTEH menerima foto daun dan menghasilkan kelas mutu + % bercak.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463040" y="288036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2999232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48640" y="34930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ponsel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atas nampan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3291840" y="27432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97680" y="288036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2999232"/>
            <a:ext cx="310896" cy="31089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383280" y="34930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 + % bercak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Sehat/Ringan/Berat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6126480" y="27432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132320" y="288036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2999232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217920" y="34930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Tahan cahaya</a:t>
            </a:r>
            <a:endParaRPr lang="en-US" sz="2400" dirty="0"/>
          </a:p>
        </p:txBody>
      </p:sp>
      <p:sp>
        <p:nvSpPr>
          <p:cNvPr id="26" name="Text 21"/>
          <p:cNvSpPr txBox="1"/>
          <p:nvPr/>
        </p:nvSpPr>
        <p:spPr>
          <a:xfrm>
            <a:off x="621792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gelap, terik, bayangan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PIPELINE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256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SIMUTEH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4370832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708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ini mencakup tahap 1–2: akuisisi dan praproses.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9436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Akuisisi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mentah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291840" y="13716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5544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2900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Praproses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citra siap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126480" y="13716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C7D5EE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Segmentasi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daun, bercak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457200" y="288036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C7D5EE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6324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9436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Ekstraksi ciri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fitur, % bercak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3291840" y="288036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C7D5EE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06324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42900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Pengenalan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 mutu</a:t>
            </a:r>
            <a:endParaRPr lang="en-US" sz="2000" dirty="0"/>
          </a:p>
        </p:txBody>
      </p:sp>
      <p:sp>
        <p:nvSpPr>
          <p:cNvPr id="24" name="Shape 17"/>
          <p:cNvSpPr/>
          <p:nvPr/>
        </p:nvSpPr>
        <p:spPr>
          <a:xfrm>
            <a:off x="6126480" y="288036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C7D5EE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06324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26364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Interpretasi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rekomendasi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DATA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256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sintetis berjawaban acuan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4370832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708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citra, 3 kelas, 5 kondisi cahaya, derau Gaussian σ 6–14.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pic>
        <p:nvPicPr>
          <p:cNvPr id="10" name="Image 0" descr="t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8010144" cy="118493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66928" y="25603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2167128" y="25603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Gelap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767328" y="25603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Terang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367528" y="25603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Kontras rendah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967728" y="25603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Bayangan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57200" y="333756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57200" y="3337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</a:t>
            </a:r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citra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2560320" y="333756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2560320" y="3337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4663440" y="333756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4663440" y="3337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1079 </a:t>
            </a:r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</a:t>
            </a:r>
            <a:endParaRPr lang="en-US" sz="2600" dirty="0"/>
          </a:p>
        </p:txBody>
      </p:sp>
      <p:sp>
        <p:nvSpPr>
          <p:cNvPr id="22" name="Shape 19"/>
          <p:cNvSpPr/>
          <p:nvPr/>
        </p:nvSpPr>
        <p:spPr>
          <a:xfrm>
            <a:off x="6766560" y="333756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766560" y="3337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6–14 </a:t>
            </a:r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derau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AKUISISI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256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Syarat akuisisi dari model kamera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4370832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708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petugas: jarak ±20 cm, tegak lurus, resolusi tertinggi.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" y="155448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1673352"/>
            <a:ext cx="310896" cy="31089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2167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47,6 px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bercak 5 mm @300 mm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560320" y="141732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46120" y="155448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7335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651760" y="2167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 px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265176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 resize 640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4663440" y="141732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349240" y="155448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673352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754880" y="2167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228 mm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475488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agar tetap ≥ 10 px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6766560" y="141732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452360" y="1554480"/>
            <a:ext cx="548640" cy="548640"/>
          </a:xfrm>
          <a:prstGeom prst="ellipse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1673352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858000" y="2167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mm</a:t>
            </a:r>
            <a:endParaRPr lang="en-US" sz="2400" dirty="0"/>
          </a:p>
        </p:txBody>
      </p:sp>
      <p:sp>
        <p:nvSpPr>
          <p:cNvPr id="28" name="Text 22"/>
          <p:cNvSpPr txBox="1"/>
          <p:nvPr/>
        </p:nvSpPr>
        <p:spPr>
          <a:xfrm>
            <a:off x="685800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dipilih (11,4 px)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457200" y="333756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457200" y="3337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f·X / Z  ·  f = 4 mm, piksel sensor = 1,4 μm, resolusi 4000×3000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KANAL WARNA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256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Kanal R paling informatif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4370832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708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unggul di semua kondisi; H tahan cahaya tapi tak invarian.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502920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548640" y="1371600"/>
          <a:ext cx="48463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669280" y="1280160"/>
            <a:ext cx="301752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pic>
        <p:nvPicPr>
          <p:cNvPr id="12" name="Image 0" descr="s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11403"/>
            <a:ext cx="2834640" cy="23093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PERBAIKAN CITRA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256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CLAHE unggul pada citra bayangan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4370832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708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Ekualisasi global: KB 1,76 → 1,30. CLAHE: 1,99.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429768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548640" y="1371600"/>
          <a:ext cx="411480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937760" y="128016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pic>
        <p:nvPicPr>
          <p:cNvPr id="12" name="Image 0" descr="h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836" y="1371600"/>
            <a:ext cx="3056888" cy="12344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937760" y="283464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pic>
        <p:nvPicPr>
          <p:cNvPr id="14" name="Image 1" descr="clahec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836" y="2926080"/>
            <a:ext cx="3056888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PENAPISAN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256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3×3 terbaik untuk garam-merica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4370832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708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PSNR 12 citra normal naik 22,1 → 30,6 dB.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475488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548640" y="1371600"/>
          <a:ext cx="457200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394960" y="1280160"/>
            <a:ext cx="329184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48640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kernel 1 · 3 · 5 · 9 · 15</a:t>
            </a:r>
            <a:endParaRPr lang="en-US" sz="1600" dirty="0"/>
          </a:p>
        </p:txBody>
      </p:sp>
      <p:pic>
        <p:nvPicPr>
          <p:cNvPr id="13" name="Image 0" descr="ke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828800"/>
            <a:ext cx="3017520" cy="68971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0" y="3063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dI: </a:t>
            </a:r>
            <a:pPr algn="ctr" indent="0" marL="0">
              <a:buNone/>
            </a:pPr>
            <a:r>
              <a:rPr lang="en-US" sz="22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20,7 → 7,8</a:t>
            </a:r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bercak memudar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 · INTEGRASI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256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Rangkaian praproses SIMUTEH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4370832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708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disimpan di param_praproses.json agar dapat diulang.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429768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353312"/>
            <a:ext cx="365760" cy="3657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2801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Ubah ukuran  </a:t>
            </a:r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640 px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1883664"/>
            <a:ext cx="429768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1956816"/>
            <a:ext cx="365760" cy="3657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188366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  </a:t>
            </a:r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 (off)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2487168"/>
            <a:ext cx="429768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560320"/>
            <a:ext cx="365760" cy="3657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248716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CLAHE kanal V  </a:t>
            </a:r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2, tile 8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" y="3090672"/>
            <a:ext cx="429768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163824"/>
            <a:ext cx="365760" cy="3657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09067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Redam derau  </a:t>
            </a:r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3×3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57200" y="3694176"/>
            <a:ext cx="429768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767328"/>
            <a:ext cx="365760" cy="36576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369417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Tajamkan  </a:t>
            </a:r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0 (off)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937760" y="1280160"/>
            <a:ext cx="3749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pic>
        <p:nvPicPr>
          <p:cNvPr id="30" name="Image 0" descr="aw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445939"/>
            <a:ext cx="3566160" cy="1497243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4937760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Citra awal  →  hasil praproses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 · HASIL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256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naik di 4 dari 5 kondisi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4370832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708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terang turun (−9,8%): risiko bercak palsu.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493776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548640" y="1371600"/>
          <a:ext cx="475488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577840" y="1280160"/>
            <a:ext cx="310896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pic>
        <p:nvPicPr>
          <p:cNvPr id="12" name="Image 0" descr="seha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41932"/>
            <a:ext cx="2926080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ETIKA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256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Tanggung jawab dan keterbatasan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4370832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708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AIK: jujur dan amanah dalam data, angka, dan dokumentasi.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63040" y="150876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1627632"/>
            <a:ext cx="310896" cy="31089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2121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Privasi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5603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hanya daun, EXIF dihapus, tanpa wajah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291840" y="13716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97680" y="150876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62763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383280" y="2121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Salah klasifikasi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3383280" y="25603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merugikan petani atau pembeli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126480" y="13716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32320" y="150876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1627632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217920" y="2121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sintetis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6217920" y="25603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perlu diuji pada foto nyata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256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Temuan dan langkah berikutnya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120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453896"/>
            <a:ext cx="493776" cy="49377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4538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325880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Kanal R paling informatif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10,87 (berat, normal)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5120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322576"/>
            <a:ext cx="493776" cy="49377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225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194560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CLAHE kanal V + median 3×3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cocok untuk cahaya dan derau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5120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CE6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191256"/>
            <a:ext cx="493776" cy="49377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1912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063240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naik di 4 dari 5 kondisi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terang perlu gamma adaptif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760720" y="1325880"/>
            <a:ext cx="2926080" cy="2441448"/>
          </a:xfrm>
          <a:prstGeom prst="roundRect">
            <a:avLst>
              <a:gd name="adj" fmla="val 4494"/>
            </a:avLst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50876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943600" y="196596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Pertemuan 5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Deteksi tepi (Sobel) pada kanal R setelah praproses()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Evaluasi P1-P4 SIMUTEH</dc:title>
  <dc:subject>PptxGenJS Presentation</dc:subject>
  <dc:creator>Syifa Humaira</dc:creator>
  <cp:lastModifiedBy>Syifa Humaira</cp:lastModifiedBy>
  <cp:revision>1</cp:revision>
  <dcterms:created xsi:type="dcterms:W3CDTF">2026-10-31T11:56:22Z</dcterms:created>
  <dcterms:modified xsi:type="dcterms:W3CDTF">2026-10-31T11:56:22Z</dcterms:modified>
</cp:coreProperties>
</file>